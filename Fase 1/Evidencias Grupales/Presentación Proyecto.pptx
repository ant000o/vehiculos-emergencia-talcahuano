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Barlow Bold" panose="00000800000000000000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Open Sans Bold" panose="020B0806030504020204" pitchFamily="34" charset="0"/>
      <p:regular r:id="rId25"/>
      <p:bold r:id="rId26"/>
    </p:embeddedFont>
    <p:embeddedFont>
      <p:font typeface="Open Sans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5.svg"/><Relationship Id="rId7" Type="http://schemas.openxmlformats.org/officeDocument/2006/relationships/image" Target="../media/image20.png"/><Relationship Id="rId12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svg"/><Relationship Id="rId7" Type="http://schemas.openxmlformats.org/officeDocument/2006/relationships/image" Target="../media/image12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9.png"/><Relationship Id="rId5" Type="http://schemas.openxmlformats.org/officeDocument/2006/relationships/image" Target="../media/image5.svg"/><Relationship Id="rId10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9623" y="786734"/>
            <a:ext cx="2546743" cy="2368471"/>
          </a:xfrm>
          <a:custGeom>
            <a:avLst/>
            <a:gdLst/>
            <a:ahLst/>
            <a:cxnLst/>
            <a:rect l="l" t="t" r="r" b="b"/>
            <a:pathLst>
              <a:path w="2546743" h="2368471">
                <a:moveTo>
                  <a:pt x="0" y="0"/>
                </a:moveTo>
                <a:lnTo>
                  <a:pt x="2546742" y="0"/>
                </a:lnTo>
                <a:lnTo>
                  <a:pt x="2546742" y="2368470"/>
                </a:lnTo>
                <a:lnTo>
                  <a:pt x="0" y="2368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144019" y="1635568"/>
            <a:ext cx="1812764" cy="71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67"/>
              </a:lnSpc>
            </a:pPr>
            <a:r>
              <a:rPr lang="en-US" sz="5061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SIGEV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81234" y="3384713"/>
            <a:ext cx="9523520" cy="130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497" spc="144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Sistema de Control y Seguimiento de Mantención de Vehículos de Emergencia de la Compañía de Bomberos de Talcahuano.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58315" y="6978554"/>
            <a:ext cx="5357973" cy="276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Integrantes: </a:t>
            </a:r>
          </a:p>
          <a:p>
            <a:pPr marL="532272" lvl="1" indent="-266136" algn="l">
              <a:lnSpc>
                <a:spcPts val="2711"/>
              </a:lnSpc>
              <a:buFont typeface="Arial"/>
              <a:buChar char="•"/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Antonio Campos Alvarez.</a:t>
            </a:r>
          </a:p>
          <a:p>
            <a:pPr marL="532272" lvl="1" indent="-266136" algn="l">
              <a:lnSpc>
                <a:spcPts val="2711"/>
              </a:lnSpc>
              <a:buFont typeface="Arial"/>
              <a:buChar char="•"/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Carlo Reyes Espinoza.</a:t>
            </a:r>
          </a:p>
          <a:p>
            <a:pPr marL="532272" lvl="1" indent="-266136" algn="l">
              <a:lnSpc>
                <a:spcPts val="2711"/>
              </a:lnSpc>
              <a:buFont typeface="Arial"/>
              <a:buChar char="•"/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Ignacia Reyes Espinoza.</a:t>
            </a:r>
          </a:p>
          <a:p>
            <a:pPr algn="l">
              <a:lnSpc>
                <a:spcPts val="2711"/>
              </a:lnSpc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Docente: </a:t>
            </a:r>
          </a:p>
          <a:p>
            <a:pPr marL="532272" lvl="1" indent="-266136" algn="l">
              <a:lnSpc>
                <a:spcPts val="2711"/>
              </a:lnSpc>
              <a:buFont typeface="Arial"/>
              <a:buChar char="•"/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Diego Garcés Miranda. </a:t>
            </a:r>
          </a:p>
          <a:p>
            <a:pPr algn="l">
              <a:lnSpc>
                <a:spcPts val="2711"/>
              </a:lnSpc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Asignatura: </a:t>
            </a:r>
          </a:p>
          <a:p>
            <a:pPr marL="532272" lvl="1" indent="-266136" algn="l">
              <a:lnSpc>
                <a:spcPts val="2711"/>
              </a:lnSpc>
              <a:buFont typeface="Arial"/>
              <a:buChar char="•"/>
            </a:pPr>
            <a:r>
              <a:rPr lang="en-US" sz="2465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CAPSTONE.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7838"/>
            <a:ext cx="5768039" cy="10279162"/>
            <a:chOff x="0" y="0"/>
            <a:chExt cx="7690718" cy="13705549"/>
          </a:xfrm>
        </p:grpSpPr>
        <p:pic>
          <p:nvPicPr>
            <p:cNvPr id="7" name="Picture 7">
              <a:hlinkClick r:id="" action="ppaction://media"/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rcRect t="497" b="497"/>
            <a:stretch>
              <a:fillRect/>
            </a:stretch>
          </p:blipFill>
          <p:spPr>
            <a:xfrm>
              <a:off x="0" y="0"/>
              <a:ext cx="7690718" cy="1370554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65343" y="923925"/>
            <a:ext cx="8654890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EQUIPO DE TRABAJO Y ROLES</a:t>
            </a:r>
          </a:p>
        </p:txBody>
      </p:sp>
      <p:sp>
        <p:nvSpPr>
          <p:cNvPr id="4" name="Freeform 4"/>
          <p:cNvSpPr/>
          <p:nvPr/>
        </p:nvSpPr>
        <p:spPr>
          <a:xfrm>
            <a:off x="1658644" y="1890117"/>
            <a:ext cx="9061589" cy="181232"/>
          </a:xfrm>
          <a:custGeom>
            <a:avLst/>
            <a:gdLst/>
            <a:ahLst/>
            <a:cxnLst/>
            <a:rect l="l" t="t" r="r" b="b"/>
            <a:pathLst>
              <a:path w="9061589" h="181232">
                <a:moveTo>
                  <a:pt x="0" y="0"/>
                </a:moveTo>
                <a:lnTo>
                  <a:pt x="9061589" y="0"/>
                </a:lnTo>
                <a:lnTo>
                  <a:pt x="9061589" y="181232"/>
                </a:lnTo>
                <a:lnTo>
                  <a:pt x="0" y="181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C1F5532-3BED-47BF-A6C8-C22849CC6D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799" y="2099510"/>
            <a:ext cx="15266503" cy="7158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30229" y="5078748"/>
            <a:ext cx="10877027" cy="5914384"/>
          </a:xfrm>
          <a:custGeom>
            <a:avLst/>
            <a:gdLst/>
            <a:ahLst/>
            <a:cxnLst/>
            <a:rect l="l" t="t" r="r" b="b"/>
            <a:pathLst>
              <a:path w="10877027" h="5914384">
                <a:moveTo>
                  <a:pt x="0" y="0"/>
                </a:moveTo>
                <a:lnTo>
                  <a:pt x="10877027" y="0"/>
                </a:lnTo>
                <a:lnTo>
                  <a:pt x="10877027" y="5914384"/>
                </a:lnTo>
                <a:lnTo>
                  <a:pt x="0" y="5914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544898" y="-706132"/>
            <a:ext cx="9491696" cy="5784880"/>
          </a:xfrm>
          <a:custGeom>
            <a:avLst/>
            <a:gdLst/>
            <a:ahLst/>
            <a:cxnLst/>
            <a:rect l="l" t="t" r="r" b="b"/>
            <a:pathLst>
              <a:path w="9491696" h="5784880">
                <a:moveTo>
                  <a:pt x="0" y="0"/>
                </a:moveTo>
                <a:lnTo>
                  <a:pt x="9491696" y="0"/>
                </a:lnTo>
                <a:lnTo>
                  <a:pt x="9491696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763916" y="1629824"/>
            <a:ext cx="8056531" cy="161131"/>
          </a:xfrm>
          <a:custGeom>
            <a:avLst/>
            <a:gdLst/>
            <a:ahLst/>
            <a:cxnLst/>
            <a:rect l="l" t="t" r="r" b="b"/>
            <a:pathLst>
              <a:path w="8056531" h="161131">
                <a:moveTo>
                  <a:pt x="0" y="0"/>
                </a:moveTo>
                <a:lnTo>
                  <a:pt x="8056531" y="0"/>
                </a:lnTo>
                <a:lnTo>
                  <a:pt x="8056531" y="161131"/>
                </a:lnTo>
                <a:lnTo>
                  <a:pt x="0" y="16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432729" y="822325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2" y="0"/>
                </a:lnTo>
                <a:lnTo>
                  <a:pt x="1681692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763009" y="2129158"/>
            <a:ext cx="10058344" cy="784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Problemática</a:t>
            </a: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</a:p>
          <a:p>
            <a:pPr marL="690885" lvl="1" indent="-345443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Actualmente, la información asociada al estado y mantención de los vehículos de emergencias de la compañía de Talcahuano, se encuentra en un proceso que puede dificultar el acceso oportuno, claro y confiable a datos críticos.</a:t>
            </a:r>
          </a:p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Esto puede generar: </a:t>
            </a:r>
          </a:p>
          <a:p>
            <a:pPr marL="690885" lvl="1" indent="-345443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Dificultades para conocer el estado actual de los vehículos. </a:t>
            </a:r>
          </a:p>
          <a:p>
            <a:pPr marL="690885" lvl="1" indent="-345443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Demoras en la gestión y seguimiento de mantenciones.</a:t>
            </a:r>
          </a:p>
          <a:p>
            <a:pPr marL="690885" lvl="1" indent="-345443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Falta de control sobre gastos, materiales y despacho de móviles de emergencia.</a:t>
            </a: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0" y="717550"/>
            <a:ext cx="747460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PRESENTACIÓN DEL CASO 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75993" y="0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75993" y="5143500"/>
            <a:ext cx="8122720" cy="5420097"/>
          </a:xfrm>
          <a:custGeom>
            <a:avLst/>
            <a:gdLst/>
            <a:ahLst/>
            <a:cxnLst/>
            <a:rect l="l" t="t" r="r" b="b"/>
            <a:pathLst>
              <a:path w="8122720" h="5420097">
                <a:moveTo>
                  <a:pt x="0" y="0"/>
                </a:moveTo>
                <a:lnTo>
                  <a:pt x="8122720" y="0"/>
                </a:lnTo>
                <a:lnTo>
                  <a:pt x="8122720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65343" y="923925"/>
            <a:ext cx="747460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PRESENTACIÓN DEL CASO 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96164" y="1997624"/>
            <a:ext cx="9849159" cy="7588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Propuesta de solución</a:t>
            </a: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</a:p>
          <a:p>
            <a:pPr marL="669296" lvl="1" indent="-334648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Desarrollar una aplicación web y móvil que permita centralizar y gestionar la información de los vehículos de emergencia y sus procesos de mantención preventiva y reactiva.</a:t>
            </a:r>
          </a:p>
          <a:p>
            <a:pPr algn="just">
              <a:lnSpc>
                <a:spcPts val="4340"/>
              </a:lnSpc>
            </a:pPr>
            <a:endParaRPr lang="en-US" sz="3100">
              <a:solidFill>
                <a:srgbClr val="211E1E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La solución permitirá: </a:t>
            </a:r>
          </a:p>
          <a:p>
            <a:pPr marL="669296" lvl="1" indent="-334648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Consultar el estado de los vehículos. </a:t>
            </a:r>
          </a:p>
          <a:p>
            <a:pPr marL="669296" lvl="1" indent="-334648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Registrar y realizar seguimiento de mantenciones. </a:t>
            </a:r>
          </a:p>
          <a:p>
            <a:pPr marL="669296" lvl="1" indent="-334648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Recibir avisos oportunos sobre tareas de mantención. </a:t>
            </a:r>
          </a:p>
          <a:p>
            <a:pPr marL="669296" lvl="1" indent="-334648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Controlar gastos, materiales, insumos y mano de obra. </a:t>
            </a:r>
          </a:p>
          <a:p>
            <a:pPr marL="669296" lvl="1" indent="-334648" algn="l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Facilitar el acceso de información crítica para apoyar la respuesta ante emergencias.</a:t>
            </a:r>
          </a:p>
        </p:txBody>
      </p:sp>
      <p:sp>
        <p:nvSpPr>
          <p:cNvPr id="6" name="Freeform 6"/>
          <p:cNvSpPr/>
          <p:nvPr/>
        </p:nvSpPr>
        <p:spPr>
          <a:xfrm>
            <a:off x="1658644" y="1925045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65343" y="1009650"/>
            <a:ext cx="671923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OBJETIVOS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5000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58644" y="1925045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FEB5B83-355C-439D-A54A-A4F66C410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342" y="2705100"/>
            <a:ext cx="13896841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0440" y="2262735"/>
            <a:ext cx="12640307" cy="7509910"/>
          </a:xfrm>
          <a:custGeom>
            <a:avLst/>
            <a:gdLst/>
            <a:ahLst/>
            <a:cxnLst/>
            <a:rect l="l" t="t" r="r" b="b"/>
            <a:pathLst>
              <a:path w="12640307" h="7509910">
                <a:moveTo>
                  <a:pt x="0" y="0"/>
                </a:moveTo>
                <a:lnTo>
                  <a:pt x="12640306" y="0"/>
                </a:lnTo>
                <a:lnTo>
                  <a:pt x="12640306" y="7509911"/>
                </a:lnTo>
                <a:lnTo>
                  <a:pt x="0" y="7509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76200" cap="sq">
            <a:solidFill>
              <a:srgbClr val="613623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2065343" y="923925"/>
            <a:ext cx="764819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PLAN DE TRABAJO 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6422" y="3883025"/>
            <a:ext cx="4992694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Total de 18 semanas:</a:t>
            </a:r>
          </a:p>
          <a:p>
            <a:pPr marL="755654" lvl="1" indent="-377827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Fase 1:</a:t>
            </a:r>
            <a:r>
              <a:rPr lang="en-US" sz="35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 4 semanas. </a:t>
            </a:r>
          </a:p>
          <a:p>
            <a:pPr marL="755654" lvl="1" indent="-377827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Fase 2:</a:t>
            </a:r>
            <a:r>
              <a:rPr lang="en-US" sz="35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 11 semanas.</a:t>
            </a:r>
          </a:p>
          <a:p>
            <a:pPr marL="755654" lvl="1" indent="-377827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Fase 3:</a:t>
            </a:r>
            <a:r>
              <a:rPr lang="en-US" sz="35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 3 semanas</a:t>
            </a:r>
          </a:p>
        </p:txBody>
      </p:sp>
      <p:sp>
        <p:nvSpPr>
          <p:cNvPr id="5" name="Freeform 5"/>
          <p:cNvSpPr/>
          <p:nvPr/>
        </p:nvSpPr>
        <p:spPr>
          <a:xfrm>
            <a:off x="1658644" y="1925045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828800" y="1840575"/>
            <a:ext cx="7837729" cy="156755"/>
          </a:xfrm>
          <a:custGeom>
            <a:avLst/>
            <a:gdLst/>
            <a:ahLst/>
            <a:cxnLst/>
            <a:rect l="l" t="t" r="r" b="b"/>
            <a:pathLst>
              <a:path w="7837729" h="156755">
                <a:moveTo>
                  <a:pt x="0" y="0"/>
                </a:moveTo>
                <a:lnTo>
                  <a:pt x="7837729" y="0"/>
                </a:lnTo>
                <a:lnTo>
                  <a:pt x="7837729" y="156754"/>
                </a:lnTo>
                <a:lnTo>
                  <a:pt x="0" y="15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14484" y="923925"/>
            <a:ext cx="764819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METODOLOGÍA A UTILIZAR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791543" y="1666345"/>
            <a:ext cx="3292475" cy="3292475"/>
          </a:xfrm>
          <a:custGeom>
            <a:avLst/>
            <a:gdLst/>
            <a:ahLst/>
            <a:cxnLst/>
            <a:rect l="l" t="t" r="r" b="b"/>
            <a:pathLst>
              <a:path w="3292475" h="3292475">
                <a:moveTo>
                  <a:pt x="0" y="0"/>
                </a:moveTo>
                <a:lnTo>
                  <a:pt x="3292475" y="0"/>
                </a:lnTo>
                <a:lnTo>
                  <a:pt x="3292475" y="3292475"/>
                </a:lnTo>
                <a:lnTo>
                  <a:pt x="0" y="3292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212242" y="5145402"/>
            <a:ext cx="2099017" cy="2257007"/>
            <a:chOff x="0" y="0"/>
            <a:chExt cx="2798689" cy="30093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8689" cy="3009343"/>
            </a:xfrm>
            <a:custGeom>
              <a:avLst/>
              <a:gdLst/>
              <a:ahLst/>
              <a:cxnLst/>
              <a:rect l="l" t="t" r="r" b="b"/>
              <a:pathLst>
                <a:path w="2798689" h="3009343">
                  <a:moveTo>
                    <a:pt x="0" y="0"/>
                  </a:moveTo>
                  <a:lnTo>
                    <a:pt x="2798689" y="0"/>
                  </a:lnTo>
                  <a:lnTo>
                    <a:pt x="2798689" y="3009343"/>
                  </a:lnTo>
                  <a:lnTo>
                    <a:pt x="0" y="300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395747" y="609125"/>
              <a:ext cx="2007195" cy="67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94"/>
                </a:lnSpc>
              </a:pPr>
              <a:r>
                <a:rPr lang="en-US" sz="3067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Sprint 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13175" y="7727235"/>
            <a:ext cx="2099017" cy="2257007"/>
            <a:chOff x="0" y="0"/>
            <a:chExt cx="2798689" cy="30093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8689" cy="3009343"/>
            </a:xfrm>
            <a:custGeom>
              <a:avLst/>
              <a:gdLst/>
              <a:ahLst/>
              <a:cxnLst/>
              <a:rect l="l" t="t" r="r" b="b"/>
              <a:pathLst>
                <a:path w="2798689" h="3009343">
                  <a:moveTo>
                    <a:pt x="0" y="0"/>
                  </a:moveTo>
                  <a:lnTo>
                    <a:pt x="2798689" y="0"/>
                  </a:lnTo>
                  <a:lnTo>
                    <a:pt x="2798689" y="3009343"/>
                  </a:lnTo>
                  <a:lnTo>
                    <a:pt x="0" y="300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5747" y="609125"/>
              <a:ext cx="2007195" cy="67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94"/>
                </a:lnSpc>
              </a:pPr>
              <a:r>
                <a:rPr lang="en-US" sz="3067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Sprint 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12242" y="7727235"/>
            <a:ext cx="2099017" cy="2257007"/>
            <a:chOff x="0" y="0"/>
            <a:chExt cx="2798689" cy="30093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98689" cy="3009343"/>
            </a:xfrm>
            <a:custGeom>
              <a:avLst/>
              <a:gdLst/>
              <a:ahLst/>
              <a:cxnLst/>
              <a:rect l="l" t="t" r="r" b="b"/>
              <a:pathLst>
                <a:path w="2798689" h="3009343">
                  <a:moveTo>
                    <a:pt x="0" y="0"/>
                  </a:moveTo>
                  <a:lnTo>
                    <a:pt x="2798689" y="0"/>
                  </a:lnTo>
                  <a:lnTo>
                    <a:pt x="2798689" y="3009343"/>
                  </a:lnTo>
                  <a:lnTo>
                    <a:pt x="0" y="300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395747" y="609125"/>
              <a:ext cx="2007195" cy="67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94"/>
                </a:lnSpc>
              </a:pPr>
              <a:r>
                <a:rPr lang="en-US" sz="3067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Sprint 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5143500"/>
            <a:ext cx="3456132" cy="4517819"/>
            <a:chOff x="0" y="0"/>
            <a:chExt cx="4608176" cy="60237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08176" cy="6023759"/>
            </a:xfrm>
            <a:custGeom>
              <a:avLst/>
              <a:gdLst/>
              <a:ahLst/>
              <a:cxnLst/>
              <a:rect l="l" t="t" r="r" b="b"/>
              <a:pathLst>
                <a:path w="4608176" h="6023759">
                  <a:moveTo>
                    <a:pt x="0" y="0"/>
                  </a:moveTo>
                  <a:lnTo>
                    <a:pt x="4608176" y="0"/>
                  </a:lnTo>
                  <a:lnTo>
                    <a:pt x="4608176" y="6023759"/>
                  </a:lnTo>
                  <a:lnTo>
                    <a:pt x="0" y="602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397564" y="266143"/>
              <a:ext cx="3813048" cy="5486400"/>
            </a:xfrm>
            <a:custGeom>
              <a:avLst/>
              <a:gdLst/>
              <a:ahLst/>
              <a:cxnLst/>
              <a:rect l="l" t="t" r="r" b="b"/>
              <a:pathLst>
                <a:path w="3813048" h="5486400">
                  <a:moveTo>
                    <a:pt x="0" y="0"/>
                  </a:moveTo>
                  <a:lnTo>
                    <a:pt x="3813048" y="0"/>
                  </a:lnTo>
                  <a:lnTo>
                    <a:pt x="381304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925900" y="585653"/>
              <a:ext cx="2756376" cy="5050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040"/>
                </a:lnSpc>
              </a:pPr>
              <a:r>
                <a:rPr lang="en-US" sz="3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ANÁLISIS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Actores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Visión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Impact 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Mapping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etc.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52800" y="5143500"/>
            <a:ext cx="3456132" cy="4517819"/>
            <a:chOff x="0" y="0"/>
            <a:chExt cx="4608176" cy="60237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08176" cy="6023759"/>
            </a:xfrm>
            <a:custGeom>
              <a:avLst/>
              <a:gdLst/>
              <a:ahLst/>
              <a:cxnLst/>
              <a:rect l="l" t="t" r="r" b="b"/>
              <a:pathLst>
                <a:path w="4608176" h="6023759">
                  <a:moveTo>
                    <a:pt x="0" y="0"/>
                  </a:moveTo>
                  <a:lnTo>
                    <a:pt x="4608176" y="0"/>
                  </a:lnTo>
                  <a:lnTo>
                    <a:pt x="4608176" y="6023759"/>
                  </a:lnTo>
                  <a:lnTo>
                    <a:pt x="0" y="602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397564" y="266143"/>
              <a:ext cx="3813048" cy="5486400"/>
            </a:xfrm>
            <a:custGeom>
              <a:avLst/>
              <a:gdLst/>
              <a:ahLst/>
              <a:cxnLst/>
              <a:rect l="l" t="t" r="r" b="b"/>
              <a:pathLst>
                <a:path w="3813048" h="5486400">
                  <a:moveTo>
                    <a:pt x="0" y="0"/>
                  </a:moveTo>
                  <a:lnTo>
                    <a:pt x="3813048" y="0"/>
                  </a:lnTo>
                  <a:lnTo>
                    <a:pt x="381304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599510" y="585653"/>
              <a:ext cx="3409156" cy="41992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PRODUCTO</a:t>
              </a:r>
            </a:p>
            <a:p>
              <a:pPr algn="l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Epicas</a:t>
              </a:r>
            </a:p>
            <a:p>
              <a:pPr algn="l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User Stories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Backlog</a:t>
              </a:r>
            </a:p>
            <a:p>
              <a:pPr algn="just">
                <a:lnSpc>
                  <a:spcPts val="5040"/>
                </a:lnSpc>
              </a:pPr>
              <a:r>
                <a:rPr lang="en-US" sz="36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etc.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13175" y="5145402"/>
            <a:ext cx="2099017" cy="2257007"/>
            <a:chOff x="0" y="0"/>
            <a:chExt cx="2798689" cy="300934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798689" cy="3009343"/>
            </a:xfrm>
            <a:custGeom>
              <a:avLst/>
              <a:gdLst/>
              <a:ahLst/>
              <a:cxnLst/>
              <a:rect l="l" t="t" r="r" b="b"/>
              <a:pathLst>
                <a:path w="2798689" h="3009343">
                  <a:moveTo>
                    <a:pt x="0" y="0"/>
                  </a:moveTo>
                  <a:lnTo>
                    <a:pt x="2798689" y="0"/>
                  </a:lnTo>
                  <a:lnTo>
                    <a:pt x="2798689" y="3009343"/>
                  </a:lnTo>
                  <a:lnTo>
                    <a:pt x="0" y="300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395747" y="609125"/>
              <a:ext cx="2007195" cy="67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94"/>
                </a:lnSpc>
              </a:pPr>
              <a:r>
                <a:rPr lang="en-US" sz="3067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Sprint 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682734" y="5145402"/>
            <a:ext cx="3456132" cy="4517819"/>
            <a:chOff x="0" y="0"/>
            <a:chExt cx="4608176" cy="60237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08176" cy="6023759"/>
            </a:xfrm>
            <a:custGeom>
              <a:avLst/>
              <a:gdLst/>
              <a:ahLst/>
              <a:cxnLst/>
              <a:rect l="l" t="t" r="r" b="b"/>
              <a:pathLst>
                <a:path w="4608176" h="6023759">
                  <a:moveTo>
                    <a:pt x="0" y="0"/>
                  </a:moveTo>
                  <a:lnTo>
                    <a:pt x="4608176" y="0"/>
                  </a:lnTo>
                  <a:lnTo>
                    <a:pt x="4608176" y="6023759"/>
                  </a:lnTo>
                  <a:lnTo>
                    <a:pt x="0" y="602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397564" y="266143"/>
              <a:ext cx="3813048" cy="5486400"/>
            </a:xfrm>
            <a:custGeom>
              <a:avLst/>
              <a:gdLst/>
              <a:ahLst/>
              <a:cxnLst/>
              <a:rect l="l" t="t" r="r" b="b"/>
              <a:pathLst>
                <a:path w="3813048" h="5486400">
                  <a:moveTo>
                    <a:pt x="0" y="0"/>
                  </a:moveTo>
                  <a:lnTo>
                    <a:pt x="3813048" y="0"/>
                  </a:lnTo>
                  <a:lnTo>
                    <a:pt x="381304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660876" y="592642"/>
              <a:ext cx="3382804" cy="2945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VALIDACIÓN</a:t>
              </a:r>
            </a:p>
            <a:p>
              <a:pPr algn="just">
                <a:lnSpc>
                  <a:spcPts val="4480"/>
                </a:lnSpc>
              </a:pPr>
              <a:r>
                <a:rPr lang="en-US" sz="32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V&amp;V</a:t>
              </a:r>
            </a:p>
            <a:p>
              <a:pPr algn="just">
                <a:lnSpc>
                  <a:spcPts val="4480"/>
                </a:lnSpc>
              </a:pPr>
              <a:r>
                <a:rPr lang="en-US" sz="32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Retrospectiva</a:t>
              </a:r>
            </a:p>
            <a:p>
              <a:pPr algn="just">
                <a:lnSpc>
                  <a:spcPts val="4480"/>
                </a:lnSpc>
              </a:pPr>
              <a:r>
                <a:rPr lang="en-US" sz="3200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Cierre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336638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4084018" y="2361670"/>
            <a:ext cx="12613834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Utilizaremos una metodología ágil, orientada a entregar valor de manera iterativa e incremental, permitiendo adaptar y priorizar el desarrollo según las necesidades del proyecto.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94034" y="6956397"/>
            <a:ext cx="3845468" cy="4114800"/>
          </a:xfrm>
          <a:custGeom>
            <a:avLst/>
            <a:gdLst/>
            <a:ahLst/>
            <a:cxnLst/>
            <a:rect l="l" t="t" r="r" b="b"/>
            <a:pathLst>
              <a:path w="3845468" h="4114800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37441" y="1911175"/>
            <a:ext cx="8008703" cy="160174"/>
          </a:xfrm>
          <a:custGeom>
            <a:avLst/>
            <a:gdLst/>
            <a:ahLst/>
            <a:cxnLst/>
            <a:rect l="l" t="t" r="r" b="b"/>
            <a:pathLst>
              <a:path w="8008703" h="160174">
                <a:moveTo>
                  <a:pt x="0" y="0"/>
                </a:moveTo>
                <a:lnTo>
                  <a:pt x="8008703" y="0"/>
                </a:lnTo>
                <a:lnTo>
                  <a:pt x="8008703" y="160174"/>
                </a:lnTo>
                <a:lnTo>
                  <a:pt x="0" y="160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4984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2" y="0"/>
                </a:lnTo>
                <a:lnTo>
                  <a:pt x="1681692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0691" y="2673351"/>
            <a:ext cx="2773501" cy="2470149"/>
          </a:xfrm>
          <a:custGeom>
            <a:avLst/>
            <a:gdLst/>
            <a:ahLst/>
            <a:cxnLst/>
            <a:rect l="l" t="t" r="r" b="b"/>
            <a:pathLst>
              <a:path w="2773501" h="2470149">
                <a:moveTo>
                  <a:pt x="0" y="0"/>
                </a:moveTo>
                <a:lnTo>
                  <a:pt x="2773501" y="0"/>
                </a:lnTo>
                <a:lnTo>
                  <a:pt x="2773501" y="2470149"/>
                </a:lnTo>
                <a:lnTo>
                  <a:pt x="0" y="24701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19319" y="2673351"/>
            <a:ext cx="2617710" cy="2699513"/>
          </a:xfrm>
          <a:custGeom>
            <a:avLst/>
            <a:gdLst/>
            <a:ahLst/>
            <a:cxnLst/>
            <a:rect l="l" t="t" r="r" b="b"/>
            <a:pathLst>
              <a:path w="2617710" h="2699513">
                <a:moveTo>
                  <a:pt x="0" y="0"/>
                </a:moveTo>
                <a:lnTo>
                  <a:pt x="2617710" y="0"/>
                </a:lnTo>
                <a:lnTo>
                  <a:pt x="2617710" y="2699513"/>
                </a:lnTo>
                <a:lnTo>
                  <a:pt x="0" y="26995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69562" y="6314284"/>
            <a:ext cx="2699513" cy="2699513"/>
          </a:xfrm>
          <a:custGeom>
            <a:avLst/>
            <a:gdLst/>
            <a:ahLst/>
            <a:cxnLst/>
            <a:rect l="l" t="t" r="r" b="b"/>
            <a:pathLst>
              <a:path w="2699513" h="2699513">
                <a:moveTo>
                  <a:pt x="0" y="0"/>
                </a:moveTo>
                <a:lnTo>
                  <a:pt x="2699513" y="0"/>
                </a:lnTo>
                <a:lnTo>
                  <a:pt x="2699513" y="2699513"/>
                </a:lnTo>
                <a:lnTo>
                  <a:pt x="0" y="26995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76676" y="923925"/>
            <a:ext cx="7624276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TECNOLOGÍAS A UTILIZAR 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C4984DE-E79A-48DE-AA07-050215F280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2324100"/>
            <a:ext cx="9092241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58644" y="1925045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54168" y="2276577"/>
            <a:ext cx="12639352" cy="7609406"/>
          </a:xfrm>
          <a:custGeom>
            <a:avLst/>
            <a:gdLst/>
            <a:ahLst/>
            <a:cxnLst/>
            <a:rect l="l" t="t" r="r" b="b"/>
            <a:pathLst>
              <a:path w="12639352" h="7609406">
                <a:moveTo>
                  <a:pt x="0" y="0"/>
                </a:moveTo>
                <a:lnTo>
                  <a:pt x="12639352" y="0"/>
                </a:lnTo>
                <a:lnTo>
                  <a:pt x="12639352" y="7609405"/>
                </a:lnTo>
                <a:lnTo>
                  <a:pt x="0" y="7609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76200" cap="sq">
            <a:solidFill>
              <a:srgbClr val="613623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065343" y="923925"/>
            <a:ext cx="764819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MODELO RELACIONAL 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820037" y="1887729"/>
            <a:ext cx="9180963" cy="183619"/>
          </a:xfrm>
          <a:custGeom>
            <a:avLst/>
            <a:gdLst/>
            <a:ahLst/>
            <a:cxnLst/>
            <a:rect l="l" t="t" r="r" b="b"/>
            <a:pathLst>
              <a:path w="9180963" h="183619">
                <a:moveTo>
                  <a:pt x="0" y="0"/>
                </a:moveTo>
                <a:lnTo>
                  <a:pt x="9180963" y="0"/>
                </a:lnTo>
                <a:lnTo>
                  <a:pt x="9180963" y="183620"/>
                </a:lnTo>
                <a:lnTo>
                  <a:pt x="0" y="183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66527" y="2362345"/>
            <a:ext cx="13754945" cy="7508803"/>
          </a:xfrm>
          <a:custGeom>
            <a:avLst/>
            <a:gdLst/>
            <a:ahLst/>
            <a:cxnLst/>
            <a:rect l="l" t="t" r="r" b="b"/>
            <a:pathLst>
              <a:path w="13754945" h="7508803">
                <a:moveTo>
                  <a:pt x="0" y="0"/>
                </a:moveTo>
                <a:lnTo>
                  <a:pt x="13754946" y="0"/>
                </a:lnTo>
                <a:lnTo>
                  <a:pt x="13754946" y="7508803"/>
                </a:lnTo>
                <a:lnTo>
                  <a:pt x="0" y="7508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76200" cap="sq">
            <a:solidFill>
              <a:srgbClr val="613623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355319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37010" y="923925"/>
            <a:ext cx="8963990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DIAGRAMA DE ARQUITECTURA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58644" y="1799583"/>
            <a:ext cx="13588296" cy="271766"/>
          </a:xfrm>
          <a:custGeom>
            <a:avLst/>
            <a:gdLst/>
            <a:ahLst/>
            <a:cxnLst/>
            <a:rect l="l" t="t" r="r" b="b"/>
            <a:pathLst>
              <a:path w="13588296" h="271766">
                <a:moveTo>
                  <a:pt x="0" y="0"/>
                </a:moveTo>
                <a:lnTo>
                  <a:pt x="13588297" y="0"/>
                </a:lnTo>
                <a:lnTo>
                  <a:pt x="13588297" y="271766"/>
                </a:lnTo>
                <a:lnTo>
                  <a:pt x="0" y="27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83652" y="2204699"/>
            <a:ext cx="13825061" cy="7793332"/>
          </a:xfrm>
          <a:custGeom>
            <a:avLst/>
            <a:gdLst/>
            <a:ahLst/>
            <a:cxnLst/>
            <a:rect l="l" t="t" r="r" b="b"/>
            <a:pathLst>
              <a:path w="13825061" h="7793332">
                <a:moveTo>
                  <a:pt x="0" y="0"/>
                </a:moveTo>
                <a:lnTo>
                  <a:pt x="13825061" y="0"/>
                </a:lnTo>
                <a:lnTo>
                  <a:pt x="13825061" y="7793331"/>
                </a:lnTo>
                <a:lnTo>
                  <a:pt x="0" y="7793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76200" cap="sq">
            <a:solidFill>
              <a:srgbClr val="613623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065343" y="923925"/>
            <a:ext cx="1477739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MOCKUPS - PAGINA WEB / APLICACION MOVIL</a:t>
            </a:r>
          </a:p>
        </p:txBody>
      </p:sp>
      <p:sp>
        <p:nvSpPr>
          <p:cNvPr id="7" name="Freeform 7"/>
          <p:cNvSpPr/>
          <p:nvPr/>
        </p:nvSpPr>
        <p:spPr>
          <a:xfrm>
            <a:off x="14085344" y="2239281"/>
            <a:ext cx="4202656" cy="7758749"/>
          </a:xfrm>
          <a:custGeom>
            <a:avLst/>
            <a:gdLst/>
            <a:ahLst/>
            <a:cxnLst/>
            <a:rect l="l" t="t" r="r" b="b"/>
            <a:pathLst>
              <a:path w="4202656" h="7758749">
                <a:moveTo>
                  <a:pt x="0" y="0"/>
                </a:moveTo>
                <a:lnTo>
                  <a:pt x="4202656" y="0"/>
                </a:lnTo>
                <a:lnTo>
                  <a:pt x="4202656" y="7758749"/>
                </a:lnTo>
                <a:lnTo>
                  <a:pt x="0" y="77587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85" t="-2525" r="-2485" b="-2525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831921" y="7200900"/>
            <a:ext cx="6302447" cy="3050168"/>
          </a:xfrm>
          <a:custGeom>
            <a:avLst/>
            <a:gdLst/>
            <a:ahLst/>
            <a:cxnLst/>
            <a:rect l="l" t="t" r="r" b="b"/>
            <a:pathLst>
              <a:path w="6302447" h="3050168">
                <a:moveTo>
                  <a:pt x="0" y="0"/>
                </a:moveTo>
                <a:lnTo>
                  <a:pt x="6302447" y="0"/>
                </a:lnTo>
                <a:lnTo>
                  <a:pt x="6302447" y="3050168"/>
                </a:lnTo>
                <a:lnTo>
                  <a:pt x="0" y="3050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225" b="-8740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65343" y="923925"/>
            <a:ext cx="764819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PRÓXIMOS PASOS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58644" y="1925045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813320" y="2485062"/>
            <a:ext cx="4556034" cy="4495019"/>
          </a:xfrm>
          <a:custGeom>
            <a:avLst/>
            <a:gdLst/>
            <a:ahLst/>
            <a:cxnLst/>
            <a:rect l="l" t="t" r="r" b="b"/>
            <a:pathLst>
              <a:path w="4556034" h="4495019">
                <a:moveTo>
                  <a:pt x="0" y="0"/>
                </a:moveTo>
                <a:lnTo>
                  <a:pt x="4556034" y="0"/>
                </a:lnTo>
                <a:lnTo>
                  <a:pt x="4556034" y="4495019"/>
                </a:lnTo>
                <a:lnTo>
                  <a:pt x="0" y="4495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45" r="-38331" b="-2716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9118" y="2456487"/>
            <a:ext cx="4091747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1) Desarrollo de los Sprints: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Implementar progresivamente las funcionalidades definidas para la solución.</a:t>
            </a:r>
            <a:r>
              <a:rPr lang="en-US" sz="35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674064" y="2485062"/>
            <a:ext cx="4577752" cy="4527549"/>
          </a:xfrm>
          <a:custGeom>
            <a:avLst/>
            <a:gdLst/>
            <a:ahLst/>
            <a:cxnLst/>
            <a:rect l="l" t="t" r="r" b="b"/>
            <a:pathLst>
              <a:path w="4577752" h="4527549">
                <a:moveTo>
                  <a:pt x="0" y="0"/>
                </a:moveTo>
                <a:lnTo>
                  <a:pt x="4577752" y="0"/>
                </a:lnTo>
                <a:lnTo>
                  <a:pt x="4577752" y="4527550"/>
                </a:lnTo>
                <a:lnTo>
                  <a:pt x="0" y="452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951" r="-37675" b="-2625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917066" y="2456487"/>
            <a:ext cx="4091747" cy="36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2) Integración de Web + Móvil:</a:t>
            </a: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Conectar las aplicaciones con la API REST y la base de datos. 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556616" y="2485062"/>
            <a:ext cx="4577752" cy="4495019"/>
          </a:xfrm>
          <a:custGeom>
            <a:avLst/>
            <a:gdLst/>
            <a:ahLst/>
            <a:cxnLst/>
            <a:rect l="l" t="t" r="r" b="b"/>
            <a:pathLst>
              <a:path w="4577752" h="4495019">
                <a:moveTo>
                  <a:pt x="0" y="0"/>
                </a:moveTo>
                <a:lnTo>
                  <a:pt x="4577752" y="0"/>
                </a:lnTo>
                <a:lnTo>
                  <a:pt x="4577752" y="4495019"/>
                </a:lnTo>
                <a:lnTo>
                  <a:pt x="0" y="4495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45" r="-37675" b="-2716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799619" y="2456487"/>
            <a:ext cx="4091747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3) Pruebas y validación: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Verificar el funcionamiento de las funcionalidades y validar la solución integrada.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813320" y="7200900"/>
            <a:ext cx="6302447" cy="3050168"/>
          </a:xfrm>
          <a:custGeom>
            <a:avLst/>
            <a:gdLst/>
            <a:ahLst/>
            <a:cxnLst/>
            <a:rect l="l" t="t" r="r" b="b"/>
            <a:pathLst>
              <a:path w="6302447" h="3050168">
                <a:moveTo>
                  <a:pt x="0" y="0"/>
                </a:moveTo>
                <a:lnTo>
                  <a:pt x="6302448" y="0"/>
                </a:lnTo>
                <a:lnTo>
                  <a:pt x="6302448" y="3050168"/>
                </a:lnTo>
                <a:lnTo>
                  <a:pt x="0" y="3050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225" b="-8740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30837" y="7369413"/>
            <a:ext cx="5867415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4) Mejoras y ajustes: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Incorporar resultados de las pruebas y retroalimentación obtenida.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9437" y="7320586"/>
            <a:ext cx="5867415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5) Entrega y cierre: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Realizar la presentación final, documentación y retroespectiva del proyecto.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65343" y="923925"/>
            <a:ext cx="7648199" cy="174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CONCLUSIONES</a:t>
            </a:r>
          </a:p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endParaRPr lang="en-US" sz="4999" b="1">
              <a:solidFill>
                <a:srgbClr val="211E1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658644" y="1925045"/>
            <a:ext cx="7315200" cy="146304"/>
          </a:xfrm>
          <a:custGeom>
            <a:avLst/>
            <a:gdLst/>
            <a:ahLst/>
            <a:cxnLst/>
            <a:rect l="l" t="t" r="r" b="b"/>
            <a:pathLst>
              <a:path w="7315200" h="146304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3652" y="1028700"/>
            <a:ext cx="1681691" cy="1042649"/>
          </a:xfrm>
          <a:custGeom>
            <a:avLst/>
            <a:gdLst/>
            <a:ahLst/>
            <a:cxnLst/>
            <a:rect l="l" t="t" r="r" b="b"/>
            <a:pathLst>
              <a:path w="1681691" h="1042649">
                <a:moveTo>
                  <a:pt x="0" y="0"/>
                </a:moveTo>
                <a:lnTo>
                  <a:pt x="1681691" y="0"/>
                </a:lnTo>
                <a:lnTo>
                  <a:pt x="1681691" y="1042649"/>
                </a:lnTo>
                <a:lnTo>
                  <a:pt x="0" y="104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7941" y="2894331"/>
            <a:ext cx="8365904" cy="278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Necesidad real: </a:t>
            </a:r>
          </a:p>
          <a:p>
            <a:pPr marL="690885" lvl="1" indent="-345443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El proyecto aborda una necesidad concreta relacionada con el control y seguimiento de la mantención de vehiculos de emergencias.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7941" y="6926879"/>
            <a:ext cx="8365904" cy="278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Solución tecnológica:</a:t>
            </a:r>
          </a:p>
          <a:p>
            <a:pPr marL="690885" lvl="1" indent="-345443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La propuesta integra una aplicación web y móvil, permitiendo centralizar y facilitar el acceso a información crítica de los vehículos.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8614" y="2894331"/>
            <a:ext cx="8365904" cy="278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Valor para la operación: </a:t>
            </a:r>
          </a:p>
          <a:p>
            <a:pPr marL="690885" lvl="1" indent="-345443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La disponibilidad de información oportuna busca reducir tiempos muertos, mejorar la gestión de mantenciones y apoyar la respuesta ante emergencias.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78614" y="6926879"/>
            <a:ext cx="8365904" cy="278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Desarrollo  incremental: </a:t>
            </a:r>
          </a:p>
          <a:p>
            <a:pPr marL="690885" lvl="1" indent="-345443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211E1E"/>
                </a:solidFill>
                <a:latin typeface="Barlow"/>
                <a:ea typeface="Barlow"/>
                <a:cs typeface="Barlow"/>
                <a:sym typeface="Barlow"/>
              </a:rPr>
              <a:t>La utilización de una metodología ágil permitirá construir, validar y mejorar la solución progresivamente durante los Sprints.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15082" y="4285227"/>
            <a:ext cx="10257837" cy="154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71"/>
              </a:lnSpc>
              <a:spcBef>
                <a:spcPct val="0"/>
              </a:spcBef>
            </a:pPr>
            <a:r>
              <a:rPr lang="en-US" sz="9051" b="1">
                <a:solidFill>
                  <a:srgbClr val="211E1E"/>
                </a:solidFill>
                <a:latin typeface="Barlow Bold"/>
                <a:ea typeface="Barlow Bold"/>
                <a:cs typeface="Barlow Bold"/>
                <a:sym typeface="Barlow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504</Words>
  <Application>Microsoft Office PowerPoint</Application>
  <PresentationFormat>Personalizado</PresentationFormat>
  <Paragraphs>80</Paragraphs>
  <Slides>14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Barlow</vt:lpstr>
      <vt:lpstr>Barlow Bold</vt:lpstr>
      <vt:lpstr>Calibri</vt:lpstr>
      <vt:lpstr>Open Sans Bold</vt:lpstr>
      <vt:lpstr>Open Sans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CAPSTONE: FASE 1.</dc:title>
  <cp:lastModifiedBy>Alumno Plaza Vespucio</cp:lastModifiedBy>
  <cp:revision>2</cp:revision>
  <dcterms:created xsi:type="dcterms:W3CDTF">2006-08-16T00:00:00Z</dcterms:created>
  <dcterms:modified xsi:type="dcterms:W3CDTF">2026-09-21T13:13:17Z</dcterms:modified>
  <dc:identifier>DAHTiRD0ht8</dc:identifier>
</cp:coreProperties>
</file>